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046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D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· DATA &amp;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240280"/>
            <a:ext cx="1091153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Izi Fichas Inteligentes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1922983" cy="384048"/>
          </a:xfrm>
          <a:prstGeom prst="roundRect">
            <a:avLst>
              <a:gd name="adj" fmla="val 23810"/>
            </a:avLst>
          </a:prstGeom>
          <a:solidFill>
            <a:srgbClr val="1E3454"/>
          </a:solidFill>
          <a:ln w="12700">
            <a:solidFill>
              <a:srgbClr val="3A568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40080" y="4114800"/>
            <a:ext cx="1922983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HTML/CSS/JS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09367" y="4114800"/>
            <a:ext cx="2226564" cy="384048"/>
          </a:xfrm>
          <a:prstGeom prst="roundRect">
            <a:avLst>
              <a:gd name="adj" fmla="val 23810"/>
            </a:avLst>
          </a:prstGeom>
          <a:solidFill>
            <a:srgbClr val="1E3454"/>
          </a:solidFill>
          <a:ln w="12700">
            <a:solidFill>
              <a:srgbClr val="3A568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2709367" y="4114800"/>
            <a:ext cx="22265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· FastAPI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82235" y="4114800"/>
            <a:ext cx="2378354" cy="384048"/>
          </a:xfrm>
          <a:prstGeom prst="roundRect">
            <a:avLst>
              <a:gd name="adj" fmla="val 23810"/>
            </a:avLst>
          </a:prstGeom>
          <a:solidFill>
            <a:srgbClr val="1E3454"/>
          </a:solidFill>
          <a:ln w="12700">
            <a:solidFill>
              <a:srgbClr val="3A568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5082235" y="4114800"/>
            <a:ext cx="237835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Despliegue: Cloud Run (GCP)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606894" y="4114800"/>
            <a:ext cx="2226564" cy="384048"/>
          </a:xfrm>
          <a:prstGeom prst="roundRect">
            <a:avLst>
              <a:gd name="adj" fmla="val 23810"/>
            </a:avLst>
          </a:prstGeom>
          <a:solidFill>
            <a:srgbClr val="1E3454"/>
          </a:solidFill>
          <a:ln w="12700">
            <a:solidFill>
              <a:srgbClr val="3A568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7606894" y="4114800"/>
            <a:ext cx="22265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C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Azure OpenAI gpt-4.1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49377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v3.7 en producción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resuelve y para quién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1874520"/>
          </a:xfrm>
          <a:prstGeom prst="roundRect">
            <a:avLst>
              <a:gd name="adj" fmla="val 2927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786384" y="15270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182880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75B"/>
                </a:solidFill>
              </a:rPr>
              <a:t>Las áreas piden </a:t>
            </a:r>
            <a:r>
              <a:rPr lang="en-US" sz="1100" dirty="0" err="1">
                <a:solidFill>
                  <a:srgbClr val="33475B"/>
                </a:solidFill>
              </a:rPr>
              <a:t>datos</a:t>
            </a:r>
            <a:r>
              <a:rPr lang="en-US" sz="1100" dirty="0">
                <a:solidFill>
                  <a:srgbClr val="33475B"/>
                </a:solidFill>
              </a:rPr>
              <a:t> </a:t>
            </a:r>
            <a:r>
              <a:rPr lang="en-US" sz="1100" dirty="0" err="1">
                <a:solidFill>
                  <a:srgbClr val="33475B"/>
                </a:solidFill>
              </a:rPr>
              <a:t>describiendo</a:t>
            </a:r>
            <a:r>
              <a:rPr lang="en-US" sz="1100" dirty="0">
                <a:solidFill>
                  <a:srgbClr val="33475B"/>
                </a:solidFill>
              </a:rPr>
              <a:t> la necesidad en lenguaje libre.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75B"/>
                </a:solidFill>
              </a:rPr>
              <a:t>Pasar eso a una ficha completa y a un query correcto es manual, lento y omite reglas de seguridad de información.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75B"/>
                </a:solidFill>
              </a:rPr>
              <a:t>Sin formato uniforme, el alcance queda ambiguo y se reprocesa.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66360" cy="1874520"/>
          </a:xfrm>
          <a:prstGeom prst="roundRect">
            <a:avLst>
              <a:gd name="adj" fmla="val 2927"/>
            </a:avLst>
          </a:prstGeom>
          <a:solidFill>
            <a:srgbClr val="D6EFE0"/>
          </a:solidFill>
          <a:ln w="12700">
            <a:solidFill>
              <a:srgbClr val="2E9E6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501384" y="1527048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el sistema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1384" y="18288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33A"/>
                </a:solidFill>
              </a:rPr>
              <a:t>Conversa y completa los 15 campos de la ficha en vivo.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33A"/>
                </a:solidFill>
              </a:rPr>
              <a:t>Verifica datos sensibles y factibilidad (4 niveles) mientras llena.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4233A"/>
                </a:solidFill>
              </a:rPr>
              <a:t>Genera el entregable: documento Word + query SQL contra BigQuery.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255643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25564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9808" y="4370832"/>
            <a:ext cx="2336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(7 obligatorios)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25114" y="3611880"/>
            <a:ext cx="255643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3425114" y="3730752"/>
            <a:ext cx="25564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34842" y="4370832"/>
            <a:ext cx="2336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sensibles · 4 niveles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0148" y="3611880"/>
            <a:ext cx="255643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6210148" y="3730752"/>
            <a:ext cx="25564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319876" y="4370832"/>
            <a:ext cx="2336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de negocio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95181" y="3611880"/>
            <a:ext cx="255643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8995181" y="3730752"/>
            <a:ext cx="255643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F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9104909" y="4370832"/>
            <a:ext cx="233697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resueltas base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hoy: fichas del equipo de Marca. El diseño permite extenderlo a otros tipos de pedido.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Lenguajes, librerías y dónde se desplegó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40680" cy="1965960"/>
          </a:xfrm>
          <a:prstGeom prst="roundRect">
            <a:avLst>
              <a:gd name="adj" fmla="val 2791"/>
            </a:avLst>
          </a:prstGeom>
          <a:solidFill>
            <a:srgbClr val="CFE2F3"/>
          </a:solidFill>
          <a:ln w="12700">
            <a:solidFill>
              <a:srgbClr val="2F6F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786384" y="1527048"/>
            <a:ext cx="5148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1828800"/>
            <a:ext cx="5166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HTML + CSS + JavaScript puro (sin framework: no React/Vue).</a:t>
            </a:r>
            <a:endParaRPr lang="en-US" sz="103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Un solo archivo: static/app.html (interfaz de 3 columnas: lista · chat · ficha).</a:t>
            </a:r>
            <a:endParaRPr lang="en-US" sz="103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Llama a la API con fetch() nativo del navegador.</a:t>
            </a:r>
            <a:endParaRPr lang="en-US" sz="103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Lo sirve el mismo backend (no hay servidor web aparte).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66360" cy="1965960"/>
          </a:xfrm>
          <a:prstGeom prst="roundRect">
            <a:avLst>
              <a:gd name="adj" fmla="val 2791"/>
            </a:avLst>
          </a:prstGeom>
          <a:solidFill>
            <a:srgbClr val="D6EFE0"/>
          </a:solidFill>
          <a:ln w="12700">
            <a:solidFill>
              <a:srgbClr val="2E9E6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501384" y="1527048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1384" y="18288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Python 3 con FastAPI 0.115; servidor uvicorn + gunicorn 23.</a:t>
            </a:r>
            <a:endParaRPr lang="en-US" sz="103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psycopg2 (PostgreSQL) · openai 1.96 (cliente Azure OpenAI) · pydantic 2.11.</a:t>
            </a:r>
            <a:endParaRPr lang="en-US" sz="103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python-docx 1.1.2 para exportar la ficha a Word.</a:t>
            </a:r>
            <a:endParaRPr lang="en-US" sz="103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Expone la API REST y entrega el app.html.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 cada pieza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94944" y="4133088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4944" y="4480560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(app.html)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383280" y="402336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CFE2F3"/>
          </a:solidFill>
          <a:ln w="12700">
            <a:solidFill>
              <a:srgbClr val="2F6F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438144" y="413308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38144" y="4480560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API + sirve la web</a:t>
            </a:r>
            <a:endParaRPr lang="en-US" sz="860" dirty="0"/>
          </a:p>
        </p:txBody>
      </p:sp>
      <p:sp>
        <p:nvSpPr>
          <p:cNvPr id="17" name="Shape 15"/>
          <p:cNvSpPr/>
          <p:nvPr/>
        </p:nvSpPr>
        <p:spPr>
          <a:xfrm>
            <a:off x="6629400" y="40233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684264" y="4133088"/>
            <a:ext cx="2176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84264" y="4480560"/>
            <a:ext cx="21762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(n8n-pgsql)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9418320" y="402336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BEFD2"/>
          </a:solidFill>
          <a:ln w="12700">
            <a:solidFill>
              <a:srgbClr val="C58A1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9473184" y="4133088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473184" y="448056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(externo)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761488" y="4480560"/>
            <a:ext cx="603504" cy="0"/>
          </a:xfrm>
          <a:prstGeom prst="line">
            <a:avLst/>
          </a:prstGeom>
          <a:noFill/>
          <a:ln w="20320">
            <a:solidFill>
              <a:srgbClr val="2F6FB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6144768" y="4480560"/>
            <a:ext cx="457200" cy="0"/>
          </a:xfrm>
          <a:prstGeom prst="line">
            <a:avLst/>
          </a:prstGeom>
          <a:noFill/>
          <a:ln w="20320">
            <a:solidFill>
              <a:srgbClr val="2F6FB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8933688" y="4480560"/>
            <a:ext cx="457200" cy="0"/>
          </a:xfrm>
          <a:prstGeom prst="line">
            <a:avLst/>
          </a:prstGeom>
          <a:noFill/>
          <a:ln w="20320">
            <a:solidFill>
              <a:srgbClr val="2F6FB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40080" y="52578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Entorno: proyecto GCP dev-izipay-advanced-analytics · servicio ficha-inteligente · región us-central1 · 512Mi / 1 CPU · imagen en Artifact Registry · BigQuery como fuente del entregable.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· NIVEL USUARIO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vive el usuario (funcional)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86384" y="1609344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86384" y="1609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09344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la web e inicia sesión con su correo.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786384" y="2779776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86384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779776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/ abre ficha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371600" y="3090672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una ficha nueva o retoma una existente.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786384" y="3950208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786384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950208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la necesidad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71600" y="4261104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en el chat qué datos quiere y para qué campaña.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640080" y="4974336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786384" y="5120640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786384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5120640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 la guía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371600" y="5431536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preguntas y va llenando la ficha en pantalla (a la derecha).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278728" y="1463040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6425032" y="1609344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425032" y="1609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010248" y="1609344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 sensibles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010248" y="1920240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pide datos sensibles, indica el nivel y si requiere aprobación.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6278728" y="2633472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6425032" y="2779776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6425032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10248" y="2779776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y ajusta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10248" y="3090672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los campos; corrige o completa lo que falte.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6278728" y="3803904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6425032" y="3950208"/>
            <a:ext cx="457200" cy="45720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6425032" y="3950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10248" y="3950208"/>
            <a:ext cx="440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010248" y="4261104"/>
            <a:ext cx="4404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Obtiene la ficha en Word y/o el query para los datos.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6278728" y="4974336"/>
            <a:ext cx="5272888" cy="1060704"/>
          </a:xfrm>
          <a:prstGeom prst="roundRect">
            <a:avLst>
              <a:gd name="adj" fmla="val 5172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6425032" y="5084064"/>
            <a:ext cx="498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 (usuario)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425032" y="5394960"/>
            <a:ext cx="4980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llenar un formulario con un asesor al lado que te va preguntando lo necesario y te avisa qué datos se pueden pedir y cuáles no. Tú decides; él redacta y ordena.</a:t>
            </a:r>
            <a:endParaRPr lang="en-US" sz="1030" dirty="0"/>
          </a:p>
        </p:txBody>
      </p:sp>
      <p:sp>
        <p:nvSpPr>
          <p:cNvPr id="42" name="Text 40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· NIVEL BACKEND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pasa por dentro en cada mensaje del chat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749808" y="1527048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49808" y="15270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472184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envía el mensaje a POST /api/chat y se guarda en PostgreSQL.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640080" y="2029968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749808" y="2139696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749808" y="2139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07008" y="2084832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modelo, corre el detector de sensibles (regex sobre 34 datos) y evalúa factibilidad.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749808" y="2752344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749808" y="27523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07008" y="2697480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prompt: instrucciones + KB (reglas y ejemplos) + estado actual de la ficha + historial.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640080" y="3255264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749808" y="3364992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749808" y="3364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3310128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a Azure OpenAI gpt-4.1 (temperature 0.2, máx 2500 tokens).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640080" y="3867912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749808" y="3977640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749808" y="3977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07008" y="3922776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responde en JSON: mensaje + campos a actualizar + sensibles + factibilidad + completitud.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640080" y="4480560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749808" y="4590288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749808" y="45902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4535424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valida ese JSON, aplica los cambios a la ficha y los guarda en PostgreSQL.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40080" y="5093208"/>
            <a:ext cx="704088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49808" y="5202936"/>
            <a:ext cx="329184" cy="329184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749808" y="520293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5148072"/>
            <a:ext cx="6355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al frontend el mensaje y la ficha actualizada. Al exportar: arma el Word o el SQL (AEAD.DECRYPT).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por nivel de sensibilidad</a:t>
            </a:r>
            <a:endParaRPr lang="en-US" sz="2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3108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incluye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Comisión/MDR, spread, banco a abonar, IMEI, IP, fax…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Confidencial: procede con sustento del solicitante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C58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DNI/RUC/CE, nombres, dirección, correo, teléfono, placa, coordenadas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aprobación (Seguridad de Información + jefatura)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B546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de cuenta bancaria/interbancaria, ingreso/remuneración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Aprobación reforzada; uso muy restringido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Tarjeta completa, CVC/CVV2, vencimiento, 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3347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factible: nunca se entrega bajo ninguna condición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3"/>
          <p:cNvSpPr/>
          <p:nvPr/>
        </p:nvSpPr>
        <p:spPr>
          <a:xfrm>
            <a:off x="786384" y="5458968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decisión es determinística (no se delega al LLM)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86384" y="5769864"/>
            <a:ext cx="1061892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viven en datos_sensibles.json y se evalúan por código antes del modelo. El LLM ayuda a redactar y proponer; la factibilidad la decide la regla.</a:t>
            </a:r>
            <a:endParaRPr lang="en-US" sz="1050" dirty="0"/>
          </a:p>
        </p:txBody>
      </p:sp>
      <p:sp>
        <p:nvSpPr>
          <p:cNvPr id="4" name="Text 5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'sabe' el sistema: el KB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786384" y="15270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ficha_kb.json — el molde del pedido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182880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33475B"/>
                </a:solidFill>
              </a:rPr>
              <a:t>estructura: 15 campos (título, qué es, para qué, historia de usuario, criterios, escenarios…).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33475B"/>
                </a:solidFill>
              </a:rPr>
              <a:t>filtros_recurrentes: 8 reglas (flag_parque, situación válida, compañía PMP/IZIPAY, flag_lpdp, segmento…).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33475B"/>
                </a:solidFill>
              </a:rPr>
              <a:t>fuentes_datos: principal · sensibles · secretos_aead · segmentación.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33475B"/>
                </a:solidFill>
              </a:rPr>
              <a:t>ejemplos_resueltos: 7 fichas reales con su resolución y factibilidad.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66360" cy="2286000"/>
          </a:xfrm>
          <a:prstGeom prst="roundRect">
            <a:avLst>
              <a:gd name="adj" fmla="val 2400"/>
            </a:avLst>
          </a:prstGeom>
          <a:solidFill>
            <a:srgbClr val="FBEFD2"/>
          </a:solidFill>
          <a:ln w="12700">
            <a:solidFill>
              <a:srgbClr val="C58A1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501384" y="1527048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datos_sensibles.json — el catálogo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1384" y="1828800"/>
            <a:ext cx="4846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34 ítems con nombre, alias y nivel (1–4).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Distribución: 20 en N1, 8 en N2, 2 en N3, 4 en N4.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Los alias detectan el dato aunque se nombre distinto.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patrón de descifrado: AEAD.DECRYPT_STRING(key, campo, constant).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911535" cy="1874520"/>
          </a:xfrm>
          <a:prstGeom prst="roundRect">
            <a:avLst>
              <a:gd name="adj" fmla="val 2927"/>
            </a:avLst>
          </a:prstGeom>
          <a:solidFill>
            <a:srgbClr val="D6EFE0"/>
          </a:solidFill>
          <a:ln w="12700">
            <a:solidFill>
              <a:srgbClr val="2E9E6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786384" y="4041648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central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86384" y="4343400"/>
            <a:ext cx="10618927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233A"/>
                </a:solidFill>
              </a:rPr>
              <a:t>El comportamiento del sistema = el contenido del KB, no código nuevo. main.py los lee al arrancar y los inyecta al prompt.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233A"/>
                </a:solidFill>
              </a:rPr>
              <a:t>Hoy esos JSON están dentro de la imagen (embebidos): cambiarlos exige reconstruir y redesplegar.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4233A"/>
                </a:solidFill>
              </a:rPr>
              <a:t>Esto es lo que habilita comprender otros pedidos: nuevo molde + nuevos ejemplos + reglas aplicables.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se guarda qué?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53312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4233A"/>
                </a:solidFill>
              </a:rPr>
              <a:t>No todo es JSON. </a:t>
            </a:r>
            <a:r>
              <a:rPr lang="en-US" sz="1150" dirty="0">
                <a:solidFill>
                  <a:srgbClr val="33475B"/>
                </a:solidFill>
              </a:rPr>
              <a:t>El JSON es lo que el sistema trae de fábrica · PostgreSQL es lo que se acumula con el uso · el Word se produce a pedido.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4298" cy="3246120"/>
          </a:xfrm>
          <a:prstGeom prst="roundRect">
            <a:avLst>
              <a:gd name="adj" fmla="val 1690"/>
            </a:avLst>
          </a:prstGeom>
          <a:solidFill>
            <a:srgbClr val="FBEFD2"/>
          </a:solidFill>
          <a:ln w="12700">
            <a:solidFill>
              <a:srgbClr val="C58A1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86384" y="1911096"/>
            <a:ext cx="3161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Conocimiento / reglas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86384" y="2203704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JSON (embebidos en la imagen)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32888"/>
            <a:ext cx="316169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ficha_kb.json — molde, 8 filtros, fuentes, 7 ejemplos.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datos_sensibles.json — 34 datos y sus niveles.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Es fijo e igual para todos los usuarios.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Cambiarlo exige reconstruir y redesplegar.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68698" y="1783080"/>
            <a:ext cx="3454298" cy="3246120"/>
          </a:xfrm>
          <a:prstGeom prst="roundRect">
            <a:avLst>
              <a:gd name="adj" fmla="val 1690"/>
            </a:avLst>
          </a:prstGeom>
          <a:solidFill>
            <a:srgbClr val="CFE2F3"/>
          </a:solidFill>
          <a:ln w="12700">
            <a:solidFill>
              <a:srgbClr val="2F6FB0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515002" y="1911096"/>
            <a:ext cx="3161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Datos del uso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15002" y="2203704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Cloud SQL (n8n-pgsql)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15002" y="2560320"/>
            <a:ext cx="316169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30" b="1" dirty="0">
                <a:solidFill>
                  <a:srgbClr val="1F4E79"/>
                </a:solidFill>
              </a:rPr>
              <a:t>ficha_fichas </a:t>
            </a:r>
            <a:r>
              <a:rPr lang="en-US" sz="1030" dirty="0">
                <a:solidFill>
                  <a:srgbClr val="33475B"/>
                </a:solidFill>
              </a:rPr>
              <a:t>→ las fichas (1 fila = 1 ficha)</a:t>
            </a:r>
            <a:endParaRPr lang="en-US" sz="1030" dirty="0"/>
          </a:p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30" b="1" dirty="0">
                <a:solidFill>
                  <a:srgbClr val="1F4E79"/>
                </a:solidFill>
              </a:rPr>
              <a:t>ficha_messages </a:t>
            </a:r>
            <a:r>
              <a:rPr lang="en-US" sz="1030" dirty="0">
                <a:solidFill>
                  <a:srgbClr val="33475B"/>
                </a:solidFill>
              </a:rPr>
              <a:t>→ cada mensaje del chat</a:t>
            </a:r>
            <a:endParaRPr lang="en-US" sz="1030" dirty="0"/>
          </a:p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30" b="1" dirty="0">
                <a:solidFill>
                  <a:srgbClr val="1F4E79"/>
                </a:solidFill>
              </a:rPr>
              <a:t>ficha_users </a:t>
            </a:r>
            <a:r>
              <a:rPr lang="en-US" sz="1030" dirty="0">
                <a:solidFill>
                  <a:srgbClr val="33475B"/>
                </a:solidFill>
              </a:rPr>
              <a:t>→ usuarios (email, área)</a:t>
            </a:r>
            <a:endParaRPr lang="en-US" sz="1030" dirty="0"/>
          </a:p>
          <a:p>
            <a:pPr marL="0" indent="0">
              <a:lnSpc>
                <a:spcPct val="130000"/>
              </a:lnSpc>
              <a:spcAft>
                <a:spcPts val="500"/>
              </a:spcAft>
              <a:buNone/>
            </a:pPr>
            <a:r>
              <a:rPr lang="en-US" sz="1030" b="1" dirty="0">
                <a:solidFill>
                  <a:srgbClr val="1F4E79"/>
                </a:solidFill>
              </a:rPr>
              <a:t>ficha_errors </a:t>
            </a:r>
            <a:r>
              <a:rPr lang="en-US" sz="1030" dirty="0">
                <a:solidFill>
                  <a:srgbClr val="33475B"/>
                </a:solidFill>
              </a:rPr>
              <a:t>→ registro de errores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4515002" y="4114800"/>
            <a:ext cx="3161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listas (criterios, escenarios, sensibles) se guardan como JSONB dentro de la misma fila.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8097317" y="1783080"/>
            <a:ext cx="3454298" cy="3246120"/>
          </a:xfrm>
          <a:prstGeom prst="roundRect">
            <a:avLst>
              <a:gd name="adj" fmla="val 1690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8243621" y="1911096"/>
            <a:ext cx="31616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Generado al vuelo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43621" y="2203704"/>
            <a:ext cx="31616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persiste en ningún lado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43621" y="2532888"/>
            <a:ext cx="316169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El documento Word (.docx) se arma al momento de descargar, leyendo la ficha.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Se entrega como descarga; no queda guardado.</a:t>
            </a:r>
            <a:endParaRPr lang="en-US" sz="10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3475B"/>
                </a:solidFill>
              </a:rPr>
              <a:t>Siempre refleja el estado actual de la ficha en la base.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5193792"/>
            <a:ext cx="10911535" cy="841248"/>
          </a:xfrm>
          <a:prstGeom prst="roundRect">
            <a:avLst>
              <a:gd name="adj" fmla="val 6522"/>
            </a:avLst>
          </a:prstGeom>
          <a:solidFill>
            <a:srgbClr val="F6DCD8"/>
          </a:solidFill>
          <a:ln w="12700">
            <a:solidFill>
              <a:srgbClr val="B546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786384" y="5303520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existe hoy (es roadmap, no realidad)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86384" y="5614416"/>
            <a:ext cx="1061892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Cloud Storage / bucket.   ·   El query SQL no se autogenera: los query_ref del KB son plantillas de referencia, no algo que el sistema produzca y guarde.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agregar información (proceso real, hoy)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F4F7FB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786384" y="15270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editar según qué quieras enseñarle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1828800"/>
            <a:ext cx="5212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233A"/>
                </a:solidFill>
              </a:rPr>
              <a:t>Caso/pedido nuevo  </a:t>
            </a:r>
            <a:r>
              <a:rPr lang="en-US" sz="1050" dirty="0">
                <a:solidFill>
                  <a:srgbClr val="33475B"/>
                </a:solidFill>
              </a:rPr>
              <a:t>→ agregar objeto a ejemplos_resueltos (ficha_kb.json)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233A"/>
                </a:solidFill>
              </a:rPr>
              <a:t>Dato sensible nuevo  </a:t>
            </a:r>
            <a:r>
              <a:rPr lang="en-US" sz="1050" dirty="0">
                <a:solidFill>
                  <a:srgbClr val="33475B"/>
                </a:solidFill>
              </a:rPr>
              <a:t>→ agregar ítem a items (datos_sensibles.json)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233A"/>
                </a:solidFill>
              </a:rPr>
              <a:t>Filtro de negocio  </a:t>
            </a:r>
            <a:r>
              <a:rPr lang="en-US" sz="1050" dirty="0">
                <a:solidFill>
                  <a:srgbClr val="33475B"/>
                </a:solidFill>
              </a:rPr>
              <a:t>→ agregar a filtros_recurrentes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233A"/>
                </a:solidFill>
              </a:rPr>
              <a:t>Campo de la ficha  </a:t>
            </a:r>
            <a:r>
              <a:rPr lang="en-US" sz="1050" dirty="0">
                <a:solidFill>
                  <a:srgbClr val="33475B"/>
                </a:solidFill>
              </a:rPr>
              <a:t>→ editar ficha_modelo.estructura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4233A"/>
                </a:solidFill>
              </a:rPr>
              <a:t>Tono / comportamiento  </a:t>
            </a:r>
            <a:r>
              <a:rPr lang="en-US" sz="1050" dirty="0">
                <a:solidFill>
                  <a:srgbClr val="33475B"/>
                </a:solidFill>
              </a:rPr>
              <a:t>→ editar SYSTEM_PROMPT en main.py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55080" y="1417320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actualización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783080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6446520" y="1865376"/>
            <a:ext cx="292608" cy="29260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6446520" y="1865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8196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el JSON o .py correspondiente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355080" y="2304288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446520" y="2386584"/>
            <a:ext cx="292608" cy="29260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6446520" y="23865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3408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JSON  ·  python -c "import json; json.load(open(...))"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355080" y="2825496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446520" y="2907792"/>
            <a:ext cx="292608" cy="29260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446520" y="29077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28620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versión: VERSION="v3.7" → v3.8 en deploy.sh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355080" y="3346704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6446520" y="3429000"/>
            <a:ext cx="292608" cy="29260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6446520" y="3429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38328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./deploy.sh  (build Docker → Artifact Registry → Cloud Run)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355080" y="3867912"/>
            <a:ext cx="5166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5" name="Shape 23"/>
          <p:cNvSpPr/>
          <p:nvPr/>
        </p:nvSpPr>
        <p:spPr>
          <a:xfrm>
            <a:off x="6446520" y="3950208"/>
            <a:ext cx="292608" cy="292608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6446520" y="3950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390448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en /api/debug/info que cargó tus cambios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40080" y="4370832"/>
            <a:ext cx="10911535" cy="1417320"/>
          </a:xfrm>
          <a:prstGeom prst="roundRect">
            <a:avLst>
              <a:gd name="adj" fmla="val 3871"/>
            </a:avLst>
          </a:prstGeom>
          <a:solidFill>
            <a:srgbClr val="F6DCD8"/>
          </a:solidFill>
          <a:ln w="12700">
            <a:solidFill>
              <a:srgbClr val="B546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/>
          <p:nvPr/>
        </p:nvSpPr>
        <p:spPr>
          <a:xfrm>
            <a:off x="786384" y="4480560"/>
            <a:ext cx="1061892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86384" y="4736592"/>
            <a:ext cx="10618927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Hoy cada cambio de conocimiento obliga a reconstruir la imagen y redesplegar (unos minutos). No es edición en caliente.</a:t>
            </a:r>
            <a:endParaRPr lang="en-US" sz="103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El objetivo (roadmap) es mover el KB a tablas PostgreSQL: entonces agregar sería un INSERT, sin redeploy.</a:t>
            </a:r>
            <a:endParaRPr lang="en-US" sz="103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030" dirty="0">
                <a:solidFill>
                  <a:srgbClr val="14233A"/>
                </a:solidFill>
              </a:rPr>
              <a:t>Falta poner el proyecto en un repositorio Git (el backup actual no tiene control de versiones).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EXTENSIBILIDAD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agregar nuevos tipos de pedido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6DCD8"/>
          </a:solidFill>
          <a:ln w="12700">
            <a:solidFill>
              <a:srgbClr val="B5463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786384" y="1527048"/>
            <a:ext cx="5193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(single-type)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86384" y="1810512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Un único molde, pensado para fichas de Marca.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Estructura y 7 ejemplos embebidos en la imagen.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Otro tipo de pedido implica tocar código y redesplegar.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166360" cy="1463040"/>
          </a:xfrm>
          <a:prstGeom prst="roundRect">
            <a:avLst>
              <a:gd name="adj" fmla="val 3750"/>
            </a:avLst>
          </a:prstGeom>
          <a:solidFill>
            <a:srgbClr val="D6EFE0"/>
          </a:solidFill>
          <a:ln w="12700">
            <a:solidFill>
              <a:srgbClr val="2E9E6B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6501384" y="1527048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(multi-type, por configuración)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01384" y="181051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Catálogo de plantillas: cada tipo = ficha_type con su estructura, filtros, fuentes y ejemplos.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Alta de un tipo = filas en BD, sin redeploy.</a:t>
            </a:r>
            <a:endParaRPr lang="en-US" sz="102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020" dirty="0">
                <a:solidFill>
                  <a:srgbClr val="14233A"/>
                </a:solidFill>
              </a:rPr>
              <a:t>El orquestador elige la plantilla según área o intención.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109115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 para incorporar un tipo de pedido nuevo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255643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1643977" y="3749040"/>
            <a:ext cx="548640" cy="54864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/>
          <p:nvPr/>
        </p:nvSpPr>
        <p:spPr>
          <a:xfrm>
            <a:off x="1643977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096" y="4407408"/>
            <a:ext cx="2300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plantilla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6384" y="4901184"/>
            <a:ext cx="22638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Campos, obligatorios, filtros y fuentes del nuevo pedido.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425114" y="3566160"/>
            <a:ext cx="255643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429011" y="3749040"/>
            <a:ext cx="548640" cy="54864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429011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53130" y="4407408"/>
            <a:ext cx="2300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 ejemplos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571418" y="4901184"/>
            <a:ext cx="22638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3–10 casos resueltos al casebank (se usan como guía del LLM).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6210148" y="3566160"/>
            <a:ext cx="255643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7214045" y="3749040"/>
            <a:ext cx="548640" cy="54864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/>
          <p:nvPr/>
        </p:nvSpPr>
        <p:spPr>
          <a:xfrm>
            <a:off x="7214045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338164" y="4407408"/>
            <a:ext cx="2300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reglas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6452" y="4901184"/>
            <a:ext cx="22638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datos sensibles aplican y qué nivel/aprobación corresponde.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995181" y="3566160"/>
            <a:ext cx="2556434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9999078" y="3749040"/>
            <a:ext cx="548640" cy="54864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9999078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123197" y="4407408"/>
            <a:ext cx="23004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y medir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1485" y="4901184"/>
            <a:ext cx="226382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96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completitud, factibilidad y entregable antes de habilitar.</a:t>
            </a:r>
            <a:endParaRPr lang="en-US" sz="96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115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de mejora por fases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345429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454298" cy="457200"/>
          </a:xfrm>
          <a:prstGeom prst="rect">
            <a:avLst/>
          </a:prstGeom>
          <a:solidFill>
            <a:srgbClr val="B5463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786384" y="1463040"/>
            <a:ext cx="189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67229" y="1463040"/>
            <a:ext cx="1580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" y="2029968"/>
            <a:ext cx="316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Endurecer base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86384" y="2386584"/>
            <a:ext cx="31616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Secretos a Secret Manager.</a:t>
            </a:r>
            <a:r>
              <a:rPr lang="es-E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 las credenciales (clave de la base, llave de Azure) viajan en texto plano en el deploy.sh y en las variables de entorno de Cloud Run, lo cual es un riesgo. Esta fase las mueve a Secret Manager (la bóveda de secretos de GCP): el código deja de tener contraseñas a la vista y se inyectan de forma segura. Es rápido y de bajo riesgo, por eso va primero.</a:t>
            </a: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970" dirty="0"/>
          </a:p>
        </p:txBody>
      </p:sp>
      <p:sp>
        <p:nvSpPr>
          <p:cNvPr id="10" name="Shape 8"/>
          <p:cNvSpPr/>
          <p:nvPr/>
        </p:nvSpPr>
        <p:spPr>
          <a:xfrm>
            <a:off x="4368698" y="1463040"/>
            <a:ext cx="345429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4368698" y="1463040"/>
            <a:ext cx="3454298" cy="457200"/>
          </a:xfrm>
          <a:prstGeom prst="rect">
            <a:avLst/>
          </a:prstGeom>
          <a:solidFill>
            <a:srgbClr val="C58A1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4515002" y="1463040"/>
            <a:ext cx="189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5848" y="1463040"/>
            <a:ext cx="1580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15002" y="2029968"/>
            <a:ext cx="316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confiable del LLM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15002" y="2397453"/>
            <a:ext cx="31616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nativos de Azure (JSON por esquema) en vez de regex.</a:t>
            </a:r>
          </a:p>
          <a:p>
            <a:pPr marL="0" indent="0">
              <a:lnSpc>
                <a:spcPct val="103000"/>
              </a:lnSpc>
              <a:buNone/>
            </a:pPr>
            <a:endParaRPr lang="en-US" sz="900" dirty="0">
              <a:solidFill>
                <a:srgbClr val="33475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3000"/>
              </a:lnSpc>
            </a:pPr>
            <a:r>
              <a:rPr lang="es-PE" sz="900" b="1" dirty="0" err="1"/>
              <a:t>Structured</a:t>
            </a:r>
            <a:r>
              <a:rPr lang="es-PE" sz="900" b="1" dirty="0"/>
              <a:t> Outputs nativo</a:t>
            </a:r>
            <a:r>
              <a:rPr lang="es-PE" sz="900" dirty="0"/>
              <a:t> es una función de la API de Azure </a:t>
            </a:r>
            <a:r>
              <a:rPr lang="es-PE" sz="900" dirty="0" err="1"/>
              <a:t>OpenAI</a:t>
            </a:r>
            <a:r>
              <a:rPr lang="es-PE" sz="900" dirty="0"/>
              <a:t> (con modelos recientes) donde tú le pasas el </a:t>
            </a:r>
            <a:r>
              <a:rPr lang="es-PE" sz="900" b="1" dirty="0"/>
              <a:t>esquema JSON esperado</a:t>
            </a:r>
            <a:r>
              <a:rPr lang="es-PE" sz="900" dirty="0"/>
              <a:t> (</a:t>
            </a:r>
            <a:r>
              <a:rPr lang="es-PE" sz="900" dirty="0" err="1"/>
              <a:t>response_format</a:t>
            </a:r>
            <a:r>
              <a:rPr lang="es-PE" sz="900" dirty="0"/>
              <a:t> con un </a:t>
            </a:r>
            <a:r>
              <a:rPr lang="es-PE" sz="900" dirty="0" err="1"/>
              <a:t>json_schema</a:t>
            </a:r>
            <a:r>
              <a:rPr lang="es-PE" sz="900" dirty="0"/>
              <a:t>), y la API </a:t>
            </a:r>
            <a:r>
              <a:rPr lang="es-PE" sz="900" b="1" dirty="0"/>
              <a:t>garantiza a nivel del decodificador</a:t>
            </a:r>
            <a:r>
              <a:rPr lang="es-PE" sz="900" dirty="0"/>
              <a:t> que la respuesta cumple ese esquema. 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97317" y="1463040"/>
            <a:ext cx="345429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8097317" y="1463040"/>
            <a:ext cx="3454298" cy="457200"/>
          </a:xfrm>
          <a:prstGeom prst="rect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8243621" y="1463040"/>
            <a:ext cx="189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24466" y="1463040"/>
            <a:ext cx="1580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43621" y="2029968"/>
            <a:ext cx="316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real (RAG)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43621" y="2352135"/>
            <a:ext cx="31616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Casebank de fichas históricas con embeddings; reemplaza los 7 ejemplos </a:t>
            </a:r>
            <a:r>
              <a:rPr lang="en-US" sz="97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fijos</a:t>
            </a: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s-E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los 7 ejemplos están fijos y se le pasan todos al modelo siempre. Esta fase crea un </a:t>
            </a:r>
            <a:r>
              <a:rPr lang="es-ES" sz="97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casebank</a:t>
            </a:r>
            <a:r>
              <a:rPr lang="es-E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las fichas históricas se guardan con </a:t>
            </a:r>
            <a:r>
              <a:rPr lang="es-ES" sz="970" dirty="0" err="1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s-E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y, ante un pedido nuevo, el sistema recupera solo los casos más parecidos en vez de mandar todos. Escala a cientos de ejemplos y mejora la calidad de las propuestas.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640080" y="3822192"/>
            <a:ext cx="345429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640080" y="3822192"/>
            <a:ext cx="3454298" cy="457200"/>
          </a:xfrm>
          <a:prstGeom prst="rect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786384" y="3822192"/>
            <a:ext cx="189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67229" y="3822192"/>
            <a:ext cx="1580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" y="4389120"/>
            <a:ext cx="316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Multi-type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86384" y="4717099"/>
            <a:ext cx="31616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en BD: entiende nuevos tipos sin redeploy.</a:t>
            </a:r>
            <a:r>
              <a:rPr lang="es-E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Hoy el sistema entiende un solo tipo de ficha (la de Marca) y agregar otro implica tocar código. Esta fase mueve las plantillas a la base de datos: cada tipo de pedido (Riesgos, alta de tablero, extracción ad-hoc…) es un registro con su estructura, filtros y ejemplos. Así el sistema aprende nuevos tipos de pedido sin redesplegar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4368698" y="3822192"/>
            <a:ext cx="345429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4368698" y="3822192"/>
            <a:ext cx="3454298" cy="457200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4515002" y="3822192"/>
            <a:ext cx="189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95848" y="3822192"/>
            <a:ext cx="1580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15002" y="4389120"/>
            <a:ext cx="316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NL2SQL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15002" y="4846320"/>
            <a:ext cx="31616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asistida del query (borrador + validación humana).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8097317" y="3822192"/>
            <a:ext cx="3454298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8097317" y="3822192"/>
            <a:ext cx="3454298" cy="457200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8243621" y="3822192"/>
            <a:ext cx="1899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824466" y="3822192"/>
            <a:ext cx="158084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43621" y="4389120"/>
            <a:ext cx="31616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4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métricas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243621" y="4846320"/>
            <a:ext cx="31616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3000"/>
              </a:lnSpc>
              <a:buNone/>
            </a:pPr>
            <a:r>
              <a:rPr lang="en-US" sz="97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por área (tenant_id) y panel de completitud/factibilidad/costo.</a:t>
            </a:r>
            <a:endParaRPr lang="en-US" sz="97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Izi Fichas Inteligentes · D&amp;A Izipay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892</TotalTime>
  <Words>2137</Words>
  <Application>Microsoft Office PowerPoint</Application>
  <PresentationFormat>Panorámica</PresentationFormat>
  <Paragraphs>257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Izi Fichas Inteligentes - Funcionamiento, mantenimiento y escalamiento</dc:title>
  <dc:subject>PptxGenJS Presentation</dc:subject>
  <dc:creator>Karl - D&amp;A Izipay</dc:creator>
  <cp:lastModifiedBy>Jose Ramos</cp:lastModifiedBy>
  <cp:revision>2</cp:revision>
  <dcterms:created xsi:type="dcterms:W3CDTF">2026-06-05T17:10:38Z</dcterms:created>
  <dcterms:modified xsi:type="dcterms:W3CDTF">2026-08-28T14:48:18Z</dcterms:modified>
</cp:coreProperties>
</file>